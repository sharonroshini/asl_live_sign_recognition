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must-have requirements are the core features for our first working prototype.</a:t>
            </a:r>
            <a:endParaRPr/>
          </a:p>
          <a:p>
            <a:pPr indent="0" lvl="0" marL="0" rtl="0" algn="l">
              <a:spcBef>
                <a:spcPts val="0"/>
              </a:spcBef>
              <a:spcAft>
                <a:spcPts val="0"/>
              </a:spcAft>
              <a:buClr>
                <a:schemeClr val="dk1"/>
              </a:buClr>
              <a:buSzPts val="1100"/>
              <a:buFont typeface="Arial"/>
              <a:buNone/>
            </a:pPr>
            <a:r>
              <a:rPr lang="en"/>
              <a:t>We will use a webcam with MediaPipe to capture hand and pose landmarks. For this phase, we’ll start with a small vocabulary of 30–40 common signs and fingerspelling. The system will recognize these signs and convert them into English text. Then, we’ll use Text-to-Speech to speak the words out loud in English, with accent options.</a:t>
            </a:r>
            <a:endParaRPr/>
          </a:p>
          <a:p>
            <a:pPr indent="0" lvl="0" marL="0" rtl="0" algn="l">
              <a:spcBef>
                <a:spcPts val="0"/>
              </a:spcBef>
              <a:spcAft>
                <a:spcPts val="0"/>
              </a:spcAft>
              <a:buNone/>
            </a:pPr>
            <a:r>
              <a:rPr lang="en"/>
              <a:t>We’ll build a simple web app, where users can see the live video, the recognized text, and press a button to hear the speech. We’re targeting low latency of less than 1.5 seconds from the sign to the audio output. We’ll also log predictions with timestamps to analyze performance, and make sure the UI is accessible with large fonts and high contrast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3207a7a4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3207a7a4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These are features we may add later, if time permits.</a:t>
            </a:r>
            <a:endParaRPr/>
          </a:p>
          <a:p>
            <a:pPr indent="0" lvl="0" marL="0" rtl="0" algn="l">
              <a:spcBef>
                <a:spcPts val="0"/>
              </a:spcBef>
              <a:spcAft>
                <a:spcPts val="0"/>
              </a:spcAft>
              <a:buClr>
                <a:schemeClr val="dk1"/>
              </a:buClr>
              <a:buSzPts val="1100"/>
              <a:buFont typeface="Arial"/>
              <a:buNone/>
            </a:pPr>
            <a:r>
              <a:rPr lang="en"/>
              <a:t>We plan to support multilingual translation, for example converting ASL not just to English, but to Spanish, Hindi, or Chinese.</a:t>
            </a:r>
            <a:endParaRPr/>
          </a:p>
          <a:p>
            <a:pPr indent="0" lvl="0" marL="0" rtl="0" algn="l">
              <a:spcBef>
                <a:spcPts val="0"/>
              </a:spcBef>
              <a:spcAft>
                <a:spcPts val="0"/>
              </a:spcAft>
              <a:buClr>
                <a:schemeClr val="dk1"/>
              </a:buClr>
              <a:buSzPts val="1100"/>
              <a:buFont typeface="Arial"/>
              <a:buNone/>
            </a:pPr>
            <a:r>
              <a:rPr lang="en"/>
              <a:t>We want the system to handle continuous signing, like short sentences, instead of only isolated words.</a:t>
            </a:r>
            <a:endParaRPr/>
          </a:p>
          <a:p>
            <a:pPr indent="0" lvl="0" marL="0" rtl="0" algn="l">
              <a:spcBef>
                <a:spcPts val="0"/>
              </a:spcBef>
              <a:spcAft>
                <a:spcPts val="0"/>
              </a:spcAft>
              <a:buClr>
                <a:schemeClr val="dk1"/>
              </a:buClr>
              <a:buSzPts val="1100"/>
              <a:buFont typeface="Arial"/>
              <a:buNone/>
            </a:pPr>
            <a:r>
              <a:rPr lang="en"/>
              <a:t>We may also detect facial expressions, which are important in ASL for meaning such as questions or negation.</a:t>
            </a:r>
            <a:endParaRPr/>
          </a:p>
          <a:p>
            <a:pPr indent="0" lvl="0" marL="0" rtl="0" algn="l">
              <a:spcBef>
                <a:spcPts val="0"/>
              </a:spcBef>
              <a:spcAft>
                <a:spcPts val="0"/>
              </a:spcAft>
              <a:buNone/>
            </a:pPr>
            <a:r>
              <a:rPr lang="en"/>
              <a:t>Other nice-to-have features include offline text-to-speech, a personal phrasebook with quick-access phrases, a text-to-ASL avatar for two-way communication, and an analytics dashboard to visualize system performance such as confusion matrices and latency histograms.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These are the functional requirements that define what our system must do.</a:t>
            </a:r>
            <a:endParaRPr/>
          </a:p>
          <a:p>
            <a:pPr indent="0" lvl="0" marL="0" rtl="0" algn="l">
              <a:spcBef>
                <a:spcPts val="0"/>
              </a:spcBef>
              <a:spcAft>
                <a:spcPts val="0"/>
              </a:spcAft>
              <a:buClr>
                <a:schemeClr val="dk1"/>
              </a:buClr>
              <a:buSzPts val="1100"/>
              <a:buFont typeface="Arial"/>
              <a:buNone/>
            </a:pPr>
            <a:r>
              <a:rPr lang="en"/>
              <a:t>We aim for at least an F1 score of 0.85 on our starter vocabulary.</a:t>
            </a:r>
            <a:endParaRPr/>
          </a:p>
          <a:p>
            <a:pPr indent="0" lvl="0" marL="0" rtl="0" algn="l">
              <a:spcBef>
                <a:spcPts val="0"/>
              </a:spcBef>
              <a:spcAft>
                <a:spcPts val="0"/>
              </a:spcAft>
              <a:buClr>
                <a:schemeClr val="dk1"/>
              </a:buClr>
              <a:buSzPts val="1100"/>
              <a:buFont typeface="Arial"/>
              <a:buNone/>
            </a:pPr>
            <a:r>
              <a:rPr lang="en"/>
              <a:t>The system should run in real-time, with at least 20 frames per second and predictions refreshing at 5 times per second.</a:t>
            </a:r>
            <a:endParaRPr/>
          </a:p>
          <a:p>
            <a:pPr indent="0" lvl="0" marL="0" rtl="0" algn="l">
              <a:spcBef>
                <a:spcPts val="0"/>
              </a:spcBef>
              <a:spcAft>
                <a:spcPts val="0"/>
              </a:spcAft>
              <a:buClr>
                <a:schemeClr val="dk1"/>
              </a:buClr>
              <a:buSzPts val="1100"/>
              <a:buFont typeface="Arial"/>
              <a:buNone/>
            </a:pPr>
            <a:r>
              <a:rPr lang="en"/>
              <a:t>It should export audio in MP3 or WAV formats, with selectable accents.</a:t>
            </a:r>
            <a:endParaRPr/>
          </a:p>
          <a:p>
            <a:pPr indent="0" lvl="0" marL="0" rtl="0" algn="l">
              <a:spcBef>
                <a:spcPts val="0"/>
              </a:spcBef>
              <a:spcAft>
                <a:spcPts val="0"/>
              </a:spcAft>
              <a:buClr>
                <a:schemeClr val="dk1"/>
              </a:buClr>
              <a:buSzPts val="1100"/>
              <a:buFont typeface="Arial"/>
              <a:buNone/>
            </a:pPr>
            <a:r>
              <a:rPr lang="en"/>
              <a:t>If multilingual translation is enabled, the system should support at least 3 languages.</a:t>
            </a:r>
            <a:endParaRPr/>
          </a:p>
          <a:p>
            <a:pPr indent="0" lvl="0" marL="0" rtl="0" algn="l">
              <a:spcBef>
                <a:spcPts val="0"/>
              </a:spcBef>
              <a:spcAft>
                <a:spcPts val="0"/>
              </a:spcAft>
              <a:buNone/>
            </a:pPr>
            <a:r>
              <a:rPr lang="en"/>
              <a:t>Finally, we will have a configuration file where the vocabulary, model path, and language settings can be easily changed.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02e6abc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02e6abc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These requirements describe how the system should behave.</a:t>
            </a:r>
            <a:endParaRPr/>
          </a:p>
          <a:p>
            <a:pPr indent="0" lvl="0" marL="0" rtl="0" algn="l">
              <a:spcBef>
                <a:spcPts val="0"/>
              </a:spcBef>
              <a:spcAft>
                <a:spcPts val="0"/>
              </a:spcAft>
              <a:buClr>
                <a:schemeClr val="dk1"/>
              </a:buClr>
              <a:buSzPts val="1100"/>
              <a:buFont typeface="Arial"/>
              <a:buNone/>
            </a:pPr>
            <a:r>
              <a:rPr lang="en"/>
              <a:t>We want end-to-end latency to stay under 1.5 seconds.</a:t>
            </a:r>
            <a:endParaRPr/>
          </a:p>
          <a:p>
            <a:pPr indent="0" lvl="0" marL="0" rtl="0" algn="l">
              <a:spcBef>
                <a:spcPts val="0"/>
              </a:spcBef>
              <a:spcAft>
                <a:spcPts val="0"/>
              </a:spcAft>
              <a:buClr>
                <a:schemeClr val="dk1"/>
              </a:buClr>
              <a:buSzPts val="1100"/>
              <a:buFont typeface="Arial"/>
              <a:buNone/>
            </a:pPr>
            <a:r>
              <a:rPr lang="en"/>
              <a:t>The system should be robust to moderate lighting changes and will include a hand-in-frame guidance overlay to help users.</a:t>
            </a:r>
            <a:endParaRPr/>
          </a:p>
          <a:p>
            <a:pPr indent="0" lvl="0" marL="0" rtl="0" algn="l">
              <a:spcBef>
                <a:spcPts val="0"/>
              </a:spcBef>
              <a:spcAft>
                <a:spcPts val="0"/>
              </a:spcAft>
              <a:buClr>
                <a:schemeClr val="dk1"/>
              </a:buClr>
              <a:buSzPts val="1100"/>
              <a:buFont typeface="Arial"/>
              <a:buNone/>
            </a:pPr>
            <a:r>
              <a:rPr lang="en"/>
              <a:t>For privacy, all processing will happen on-device by default, with no video uploads.</a:t>
            </a:r>
            <a:endParaRPr/>
          </a:p>
          <a:p>
            <a:pPr indent="0" lvl="0" marL="0" rtl="0" algn="l">
              <a:spcBef>
                <a:spcPts val="0"/>
              </a:spcBef>
              <a:spcAft>
                <a:spcPts val="0"/>
              </a:spcAft>
              <a:buClr>
                <a:schemeClr val="dk1"/>
              </a:buClr>
              <a:buSzPts val="1100"/>
              <a:buFont typeface="Arial"/>
              <a:buNone/>
            </a:pPr>
            <a:r>
              <a:rPr lang="en"/>
              <a:t>The system should be reliable and fall back to text output if speech or translation fails.</a:t>
            </a:r>
            <a:endParaRPr/>
          </a:p>
          <a:p>
            <a:pPr indent="0" lvl="0" marL="0" rtl="0" algn="l">
              <a:spcBef>
                <a:spcPts val="0"/>
              </a:spcBef>
              <a:spcAft>
                <a:spcPts val="0"/>
              </a:spcAft>
              <a:buClr>
                <a:schemeClr val="dk1"/>
              </a:buClr>
              <a:buSzPts val="1100"/>
              <a:buFont typeface="Arial"/>
              <a:buNone/>
            </a:pPr>
            <a:r>
              <a:rPr lang="en"/>
              <a:t>It should also meet usability standards like WCAG contrast guidelines and status captions.</a:t>
            </a:r>
            <a:endParaRPr/>
          </a:p>
          <a:p>
            <a:pPr indent="0" lvl="0" marL="0" rtl="0" algn="l">
              <a:spcBef>
                <a:spcPts val="0"/>
              </a:spcBef>
              <a:spcAft>
                <a:spcPts val="0"/>
              </a:spcAft>
              <a:buNone/>
            </a:pPr>
            <a:r>
              <a:rPr lang="en"/>
              <a:t>Finally, the solution must be portable and run on Windows or macOS with a simple Python environment.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6fa3c898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6fa3c89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6fa3c898_0_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6fa3c89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These are the main tasks we plan to complete before the midterm review.</a:t>
            </a:r>
            <a:endParaRPr/>
          </a:p>
          <a:p>
            <a:pPr indent="0" lvl="0" marL="0" rtl="0" algn="l">
              <a:spcBef>
                <a:spcPts val="0"/>
              </a:spcBef>
              <a:spcAft>
                <a:spcPts val="0"/>
              </a:spcAft>
              <a:buClr>
                <a:schemeClr val="dk1"/>
              </a:buClr>
              <a:buSzPts val="1100"/>
              <a:buFont typeface="Arial"/>
              <a:buNone/>
            </a:pPr>
            <a:r>
              <a:rPr lang="en"/>
              <a:t>First, we’ll finalize our data and labels. We’ll choose our starter vocabulary, collect video clips, and create train, validation, and test splits.</a:t>
            </a:r>
            <a:endParaRPr/>
          </a:p>
          <a:p>
            <a:pPr indent="0" lvl="0" marL="0" rtl="0" algn="l">
              <a:spcBef>
                <a:spcPts val="0"/>
              </a:spcBef>
              <a:spcAft>
                <a:spcPts val="0"/>
              </a:spcAft>
              <a:buClr>
                <a:schemeClr val="dk1"/>
              </a:buClr>
              <a:buSzPts val="1100"/>
              <a:buFont typeface="Arial"/>
              <a:buNone/>
            </a:pPr>
            <a:r>
              <a:rPr lang="en"/>
              <a:t>Next, we’ll build a baseline model using landmarks as input to a simple classifier like logistic regression or a small MLP, and measure accuracy and confusion matrices.</a:t>
            </a:r>
            <a:endParaRPr/>
          </a:p>
          <a:p>
            <a:pPr indent="0" lvl="0" marL="0" rtl="0" algn="l">
              <a:spcBef>
                <a:spcPts val="0"/>
              </a:spcBef>
              <a:spcAft>
                <a:spcPts val="0"/>
              </a:spcAft>
              <a:buClr>
                <a:schemeClr val="dk1"/>
              </a:buClr>
              <a:buSzPts val="1100"/>
              <a:buFont typeface="Arial"/>
              <a:buNone/>
            </a:pPr>
            <a:r>
              <a:rPr lang="en"/>
              <a:t>Then, we’ll experiment with improved models such as Bi-LSTM, 1D-CNN, or Transformers, and add temporal smoothing methods.</a:t>
            </a:r>
            <a:endParaRPr/>
          </a:p>
          <a:p>
            <a:pPr indent="0" lvl="0" marL="0" rtl="0" algn="l">
              <a:spcBef>
                <a:spcPts val="0"/>
              </a:spcBef>
              <a:spcAft>
                <a:spcPts val="0"/>
              </a:spcAft>
              <a:buClr>
                <a:schemeClr val="dk1"/>
              </a:buClr>
              <a:buSzPts val="1100"/>
              <a:buFont typeface="Arial"/>
              <a:buNone/>
            </a:pPr>
            <a:r>
              <a:rPr lang="en"/>
              <a:t>For integration, we’ll connect predictions to English text and then to text-to-speech, and add a language dropdown if translation is included.</a:t>
            </a:r>
            <a:endParaRPr/>
          </a:p>
          <a:p>
            <a:pPr indent="0" lvl="0" marL="0" rtl="0" algn="l">
              <a:spcBef>
                <a:spcPts val="0"/>
              </a:spcBef>
              <a:spcAft>
                <a:spcPts val="0"/>
              </a:spcAft>
              <a:buNone/>
            </a:pPr>
            <a:r>
              <a:rPr lang="en"/>
              <a:t>Lastly, we’ll work on UI and telemetry: building a simple Gradio or Streamlit app with live camera and predictions, and logging latency and prediction results in CSV files.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c6fa3c89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c6fa3c8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Gesture2Globe</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RAGHU HASAN BOKAM</a:t>
            </a:r>
            <a:br>
              <a:rPr lang="en"/>
            </a:br>
            <a:r>
              <a:rPr lang="en"/>
              <a:t>SHARON ROSHINI SWAMINATHAN</a:t>
            </a:r>
            <a:br>
              <a:rPr lang="en"/>
            </a:br>
            <a:r>
              <a:rPr lang="en"/>
              <a:t>JAYASRI SURESH VANI</a:t>
            </a:r>
            <a:br>
              <a:rPr lang="en"/>
            </a:br>
            <a:r>
              <a:rPr lang="en"/>
              <a:t>MAHALAKSHMI</a:t>
            </a:r>
            <a:endParaRPr/>
          </a:p>
        </p:txBody>
      </p:sp>
      <p:sp>
        <p:nvSpPr>
          <p:cNvPr id="74" name="Google Shape;74;p13"/>
          <p:cNvSpPr txBox="1"/>
          <p:nvPr/>
        </p:nvSpPr>
        <p:spPr>
          <a:xfrm>
            <a:off x="2417100" y="1519575"/>
            <a:ext cx="4020600" cy="4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Lato"/>
                <a:ea typeface="Lato"/>
                <a:cs typeface="Lato"/>
                <a:sym typeface="Lato"/>
              </a:rPr>
              <a:t>Gestures to Global Languages</a:t>
            </a:r>
            <a:endParaRPr sz="15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280550" y="1527750"/>
            <a:ext cx="4045200" cy="20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Must-have</a:t>
            </a:r>
            <a:endParaRPr/>
          </a:p>
          <a:p>
            <a:pPr indent="0" lvl="0" marL="0" rtl="0" algn="ctr">
              <a:spcBef>
                <a:spcPts val="0"/>
              </a:spcBef>
              <a:spcAft>
                <a:spcPts val="0"/>
              </a:spcAft>
              <a:buNone/>
            </a:pPr>
            <a:r>
              <a:rPr lang="en"/>
              <a:t>Requirements</a:t>
            </a:r>
            <a:endParaRPr/>
          </a:p>
          <a:p>
            <a:pPr indent="0" lvl="0" marL="0" rtl="0" algn="ctr">
              <a:spcBef>
                <a:spcPts val="0"/>
              </a:spcBef>
              <a:spcAft>
                <a:spcPts val="0"/>
              </a:spcAft>
              <a:buNone/>
            </a:pPr>
            <a:r>
              <a:rPr lang="en"/>
              <a:t>(MVP)</a:t>
            </a:r>
            <a:endParaRPr/>
          </a:p>
        </p:txBody>
      </p:sp>
      <p:sp>
        <p:nvSpPr>
          <p:cNvPr id="80" name="Google Shape;80;p14"/>
          <p:cNvSpPr txBox="1"/>
          <p:nvPr>
            <p:ph idx="2" type="body"/>
          </p:nvPr>
        </p:nvSpPr>
        <p:spPr>
          <a:xfrm>
            <a:off x="4713875" y="127875"/>
            <a:ext cx="4324800" cy="47073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Webcam + MediaPipe for hand/pose capture</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Starter vocabulary (30–40 signs / fingerspelling)</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ASL → English text</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Text-to-Speech in English</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Simple web app (camera + live text + Speak button)</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Low latency (≤ 1.5s from sign to audio)</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Logging (predictions + timestamps)</a:t>
            </a:r>
            <a:endParaRPr b="1" sz="1500">
              <a:latin typeface="Raleway"/>
              <a:ea typeface="Raleway"/>
              <a:cs typeface="Raleway"/>
              <a:sym typeface="Raleway"/>
            </a:endParaRPr>
          </a:p>
          <a:p>
            <a:pPr indent="-323850" lvl="0" marL="457200" rtl="0" algn="l">
              <a:lnSpc>
                <a:spcPct val="150000"/>
              </a:lnSpc>
              <a:spcBef>
                <a:spcPts val="0"/>
              </a:spcBef>
              <a:spcAft>
                <a:spcPts val="0"/>
              </a:spcAft>
              <a:buSzPts val="1500"/>
              <a:buFont typeface="Raleway"/>
              <a:buChar char="●"/>
            </a:pPr>
            <a:r>
              <a:rPr b="1" lang="en" sz="1500">
                <a:latin typeface="Raleway"/>
                <a:ea typeface="Raleway"/>
                <a:cs typeface="Raleway"/>
                <a:sym typeface="Raleway"/>
              </a:rPr>
              <a:t>Accessibility basics (large font, high contrast)</a:t>
            </a:r>
            <a:endParaRPr b="1" sz="1500">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4842700" y="1912650"/>
            <a:ext cx="4045200" cy="131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1"/>
                </a:solidFill>
              </a:rPr>
              <a:t>Nice-to-have</a:t>
            </a:r>
            <a:endParaRPr>
              <a:solidFill>
                <a:schemeClr val="lt1"/>
              </a:solidFill>
            </a:endParaRPr>
          </a:p>
          <a:p>
            <a:pPr indent="0" lvl="0" marL="0" rtl="0" algn="ctr">
              <a:spcBef>
                <a:spcPts val="0"/>
              </a:spcBef>
              <a:spcAft>
                <a:spcPts val="0"/>
              </a:spcAft>
              <a:buNone/>
            </a:pPr>
            <a:r>
              <a:rPr lang="en">
                <a:solidFill>
                  <a:schemeClr val="lt1"/>
                </a:solidFill>
              </a:rPr>
              <a:t>(Phase 2)</a:t>
            </a:r>
            <a:endParaRPr>
              <a:solidFill>
                <a:schemeClr val="lt1"/>
              </a:solidFill>
            </a:endParaRPr>
          </a:p>
        </p:txBody>
      </p:sp>
      <p:sp>
        <p:nvSpPr>
          <p:cNvPr id="86" name="Google Shape;86;p15"/>
          <p:cNvSpPr txBox="1"/>
          <p:nvPr>
            <p:ph idx="2" type="body"/>
          </p:nvPr>
        </p:nvSpPr>
        <p:spPr>
          <a:xfrm>
            <a:off x="226200" y="360950"/>
            <a:ext cx="4201500" cy="44217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Multilingual translation </a:t>
            </a:r>
            <a:r>
              <a:rPr b="1" lang="en" sz="1500">
                <a:solidFill>
                  <a:schemeClr val="dk1"/>
                </a:solidFill>
                <a:latin typeface="Raleway"/>
                <a:ea typeface="Raleway"/>
                <a:cs typeface="Raleway"/>
                <a:sym typeface="Raleway"/>
              </a:rPr>
              <a:t>(e.g., Spanish)</a:t>
            </a:r>
            <a:endParaRPr b="1" sz="1500">
              <a:solidFill>
                <a:schemeClr val="dk1"/>
              </a:solidFill>
              <a:latin typeface="Raleway"/>
              <a:ea typeface="Raleway"/>
              <a:cs typeface="Raleway"/>
              <a:sym typeface="Raleway"/>
            </a:endParaRPr>
          </a:p>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Continuous signing (short sentences)</a:t>
            </a:r>
            <a:br>
              <a:rPr b="1" lang="en" sz="1500">
                <a:solidFill>
                  <a:schemeClr val="dk1"/>
                </a:solidFill>
                <a:latin typeface="Raleway"/>
                <a:ea typeface="Raleway"/>
                <a:cs typeface="Raleway"/>
                <a:sym typeface="Raleway"/>
              </a:rPr>
            </a:br>
            <a:r>
              <a:rPr b="1" lang="en" sz="1500">
                <a:solidFill>
                  <a:schemeClr val="dk1"/>
                </a:solidFill>
                <a:latin typeface="Raleway"/>
                <a:ea typeface="Raleway"/>
                <a:cs typeface="Raleway"/>
                <a:sym typeface="Raleway"/>
              </a:rPr>
              <a:t>Facial expression cues (questions/negation)</a:t>
            </a:r>
            <a:endParaRPr b="1" sz="1500">
              <a:solidFill>
                <a:schemeClr val="dk1"/>
              </a:solidFill>
              <a:latin typeface="Raleway"/>
              <a:ea typeface="Raleway"/>
              <a:cs typeface="Raleway"/>
              <a:sym typeface="Raleway"/>
            </a:endParaRPr>
          </a:p>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Offline TTS (Coqui)</a:t>
            </a:r>
            <a:endParaRPr b="1" sz="1500">
              <a:solidFill>
                <a:schemeClr val="dk1"/>
              </a:solidFill>
              <a:latin typeface="Raleway"/>
              <a:ea typeface="Raleway"/>
              <a:cs typeface="Raleway"/>
              <a:sym typeface="Raleway"/>
            </a:endParaRPr>
          </a:p>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Personal phrasebook (“I need help”)</a:t>
            </a:r>
            <a:endParaRPr b="1" sz="1500">
              <a:solidFill>
                <a:schemeClr val="dk1"/>
              </a:solidFill>
              <a:latin typeface="Raleway"/>
              <a:ea typeface="Raleway"/>
              <a:cs typeface="Raleway"/>
              <a:sym typeface="Raleway"/>
            </a:endParaRPr>
          </a:p>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Text → ASL avatar</a:t>
            </a:r>
            <a:endParaRPr b="1" sz="1500">
              <a:solidFill>
                <a:schemeClr val="dk1"/>
              </a:solidFill>
              <a:latin typeface="Raleway"/>
              <a:ea typeface="Raleway"/>
              <a:cs typeface="Raleway"/>
              <a:sym typeface="Raleway"/>
            </a:endParaRPr>
          </a:p>
          <a:p>
            <a:pPr indent="-323850" lvl="0" marL="457200" rtl="0" algn="l">
              <a:lnSpc>
                <a:spcPct val="150000"/>
              </a:lnSpc>
              <a:spcBef>
                <a:spcPts val="0"/>
              </a:spcBef>
              <a:spcAft>
                <a:spcPts val="0"/>
              </a:spcAft>
              <a:buClr>
                <a:schemeClr val="dk1"/>
              </a:buClr>
              <a:buSzPts val="1500"/>
              <a:buFont typeface="Raleway"/>
              <a:buChar char="●"/>
            </a:pPr>
            <a:r>
              <a:rPr b="1" lang="en" sz="1500">
                <a:solidFill>
                  <a:schemeClr val="dk1"/>
                </a:solidFill>
                <a:latin typeface="Raleway"/>
                <a:ea typeface="Raleway"/>
                <a:cs typeface="Raleway"/>
                <a:sym typeface="Raleway"/>
              </a:rPr>
              <a:t>Analytics dashboard (confusion matrix, latency histograms)</a:t>
            </a:r>
            <a:endParaRPr b="1" sz="1500">
              <a:solidFill>
                <a:schemeClr val="dk1"/>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Functional </a:t>
            </a:r>
            <a:r>
              <a:rPr lang="en"/>
              <a:t>Requirements</a:t>
            </a:r>
            <a:endParaRPr/>
          </a:p>
        </p:txBody>
      </p:sp>
      <p:sp>
        <p:nvSpPr>
          <p:cNvPr id="92" name="Google Shape;92;p16"/>
          <p:cNvSpPr txBox="1"/>
          <p:nvPr>
            <p:ph idx="1" type="body"/>
          </p:nvPr>
        </p:nvSpPr>
        <p:spPr>
          <a:xfrm>
            <a:off x="354875" y="1315450"/>
            <a:ext cx="2788500" cy="2894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Raleway"/>
              <a:buChar char="●"/>
            </a:pPr>
            <a:r>
              <a:rPr b="1" lang="en" sz="1500">
                <a:latin typeface="Raleway"/>
                <a:ea typeface="Raleway"/>
                <a:cs typeface="Raleway"/>
                <a:sym typeface="Raleway"/>
              </a:rPr>
              <a:t>Latency:</a:t>
            </a:r>
            <a:endParaRPr sz="1500">
              <a:latin typeface="Raleway"/>
              <a:ea typeface="Raleway"/>
              <a:cs typeface="Raleway"/>
              <a:sym typeface="Raleway"/>
            </a:endParaRPr>
          </a:p>
          <a:p>
            <a:pPr indent="0" lvl="0" marL="457200" rtl="0" algn="l">
              <a:spcBef>
                <a:spcPts val="1200"/>
              </a:spcBef>
              <a:spcAft>
                <a:spcPts val="0"/>
              </a:spcAft>
              <a:buNone/>
            </a:pPr>
            <a:r>
              <a:rPr lang="en" sz="1500">
                <a:latin typeface="Raleway"/>
                <a:ea typeface="Raleway"/>
                <a:cs typeface="Raleway"/>
                <a:sym typeface="Raleway"/>
              </a:rPr>
              <a:t>1.5s end-to-end</a:t>
            </a:r>
            <a:br>
              <a:rPr lang="en" sz="1500">
                <a:latin typeface="Raleway"/>
                <a:ea typeface="Raleway"/>
                <a:cs typeface="Raleway"/>
                <a:sym typeface="Raleway"/>
              </a:rPr>
            </a:br>
            <a:endParaRPr sz="1500">
              <a:latin typeface="Raleway"/>
              <a:ea typeface="Raleway"/>
              <a:cs typeface="Raleway"/>
              <a:sym typeface="Raleway"/>
            </a:endParaRPr>
          </a:p>
          <a:p>
            <a:pPr indent="-323850" lvl="0" marL="457200" rtl="0" algn="l">
              <a:spcBef>
                <a:spcPts val="1200"/>
              </a:spcBef>
              <a:spcAft>
                <a:spcPts val="0"/>
              </a:spcAft>
              <a:buSzPts val="1500"/>
              <a:buFont typeface="Raleway"/>
              <a:buChar char="●"/>
            </a:pPr>
            <a:r>
              <a:rPr b="1" lang="en" sz="1500">
                <a:latin typeface="Raleway"/>
                <a:ea typeface="Raleway"/>
                <a:cs typeface="Raleway"/>
                <a:sym typeface="Raleway"/>
              </a:rPr>
              <a:t>Output audio: </a:t>
            </a:r>
            <a:endParaRPr sz="1500">
              <a:latin typeface="Raleway"/>
              <a:ea typeface="Raleway"/>
              <a:cs typeface="Raleway"/>
              <a:sym typeface="Raleway"/>
            </a:endParaRPr>
          </a:p>
          <a:p>
            <a:pPr indent="0" lvl="0" marL="457200" rtl="0" algn="l">
              <a:spcBef>
                <a:spcPts val="1200"/>
              </a:spcBef>
              <a:spcAft>
                <a:spcPts val="1200"/>
              </a:spcAft>
              <a:buNone/>
            </a:pPr>
            <a:r>
              <a:rPr lang="en" sz="1500">
                <a:latin typeface="Raleway"/>
                <a:ea typeface="Raleway"/>
                <a:cs typeface="Raleway"/>
                <a:sym typeface="Raleway"/>
              </a:rPr>
              <a:t>Export MP3/WAV with selectable accent (US/UK).</a:t>
            </a:r>
            <a:endParaRPr sz="1500">
              <a:latin typeface="Raleway"/>
              <a:ea typeface="Raleway"/>
              <a:cs typeface="Raleway"/>
              <a:sym typeface="Raleway"/>
            </a:endParaRPr>
          </a:p>
        </p:txBody>
      </p:sp>
      <p:sp>
        <p:nvSpPr>
          <p:cNvPr id="93" name="Google Shape;93;p16"/>
          <p:cNvSpPr txBox="1"/>
          <p:nvPr>
            <p:ph idx="1" type="body"/>
          </p:nvPr>
        </p:nvSpPr>
        <p:spPr>
          <a:xfrm>
            <a:off x="3174275" y="1315450"/>
            <a:ext cx="2910600" cy="2894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Raleway"/>
              <a:buChar char="●"/>
            </a:pPr>
            <a:r>
              <a:rPr b="1" lang="en" sz="1500">
                <a:latin typeface="Raleway"/>
                <a:ea typeface="Raleway"/>
                <a:cs typeface="Raleway"/>
                <a:sym typeface="Raleway"/>
              </a:rPr>
              <a:t>Real-time:</a:t>
            </a:r>
            <a:endParaRPr sz="1500">
              <a:latin typeface="Raleway"/>
              <a:ea typeface="Raleway"/>
              <a:cs typeface="Raleway"/>
              <a:sym typeface="Raleway"/>
            </a:endParaRPr>
          </a:p>
          <a:p>
            <a:pPr indent="0" lvl="0" marL="457200" rtl="0" algn="l">
              <a:spcBef>
                <a:spcPts val="1200"/>
              </a:spcBef>
              <a:spcAft>
                <a:spcPts val="0"/>
              </a:spcAft>
              <a:buNone/>
            </a:pPr>
            <a:r>
              <a:rPr lang="en" sz="1500">
                <a:latin typeface="Raleway"/>
                <a:ea typeface="Raleway"/>
                <a:cs typeface="Raleway"/>
                <a:sym typeface="Raleway"/>
              </a:rPr>
              <a:t>20 FPS streams, prediction refresh ≥ 5 Hz.</a:t>
            </a:r>
            <a:br>
              <a:rPr lang="en" sz="1500">
                <a:latin typeface="Raleway"/>
                <a:ea typeface="Raleway"/>
                <a:cs typeface="Raleway"/>
                <a:sym typeface="Raleway"/>
              </a:rPr>
            </a:br>
            <a:endParaRPr sz="1500">
              <a:latin typeface="Raleway"/>
              <a:ea typeface="Raleway"/>
              <a:cs typeface="Raleway"/>
              <a:sym typeface="Raleway"/>
            </a:endParaRPr>
          </a:p>
          <a:p>
            <a:pPr indent="-323850" lvl="0" marL="457200" rtl="0" algn="l">
              <a:spcBef>
                <a:spcPts val="1200"/>
              </a:spcBef>
              <a:spcAft>
                <a:spcPts val="0"/>
              </a:spcAft>
              <a:buSzPts val="1500"/>
              <a:buFont typeface="Raleway"/>
              <a:buChar char="●"/>
            </a:pPr>
            <a:r>
              <a:rPr b="1" lang="en" sz="1500">
                <a:latin typeface="Raleway"/>
                <a:ea typeface="Raleway"/>
                <a:cs typeface="Raleway"/>
                <a:sym typeface="Raleway"/>
              </a:rPr>
              <a:t>Multilingual text output:</a:t>
            </a:r>
            <a:r>
              <a:rPr b="1" lang="en" sz="1500">
                <a:latin typeface="Raleway"/>
                <a:ea typeface="Raleway"/>
                <a:cs typeface="Raleway"/>
                <a:sym typeface="Raleway"/>
              </a:rPr>
              <a:t> </a:t>
            </a:r>
            <a:endParaRPr sz="1500">
              <a:latin typeface="Raleway"/>
              <a:ea typeface="Raleway"/>
              <a:cs typeface="Raleway"/>
              <a:sym typeface="Raleway"/>
            </a:endParaRPr>
          </a:p>
          <a:p>
            <a:pPr indent="0" lvl="0" marL="457200" rtl="0" algn="l">
              <a:spcBef>
                <a:spcPts val="1200"/>
              </a:spcBef>
              <a:spcAft>
                <a:spcPts val="1200"/>
              </a:spcAft>
              <a:buNone/>
            </a:pPr>
            <a:r>
              <a:rPr lang="en" sz="1500">
                <a:latin typeface="Raleway"/>
                <a:ea typeface="Raleway"/>
                <a:cs typeface="Raleway"/>
                <a:sym typeface="Raleway"/>
              </a:rPr>
              <a:t>At least 3 languages.</a:t>
            </a:r>
            <a:endParaRPr sz="1500">
              <a:latin typeface="Raleway"/>
              <a:ea typeface="Raleway"/>
              <a:cs typeface="Raleway"/>
              <a:sym typeface="Raleway"/>
            </a:endParaRPr>
          </a:p>
        </p:txBody>
      </p:sp>
      <p:sp>
        <p:nvSpPr>
          <p:cNvPr id="94" name="Google Shape;94;p16"/>
          <p:cNvSpPr txBox="1"/>
          <p:nvPr>
            <p:ph idx="1" type="body"/>
          </p:nvPr>
        </p:nvSpPr>
        <p:spPr>
          <a:xfrm>
            <a:off x="6084800" y="1315446"/>
            <a:ext cx="2788500" cy="1752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Raleway"/>
              <a:buChar char="●"/>
            </a:pPr>
            <a:r>
              <a:rPr b="1" lang="en" sz="1500">
                <a:latin typeface="Raleway"/>
                <a:ea typeface="Raleway"/>
                <a:cs typeface="Raleway"/>
                <a:sym typeface="Raleway"/>
              </a:rPr>
              <a:t>Configurable:</a:t>
            </a:r>
            <a:endParaRPr sz="1500">
              <a:latin typeface="Raleway"/>
              <a:ea typeface="Raleway"/>
              <a:cs typeface="Raleway"/>
              <a:sym typeface="Raleway"/>
            </a:endParaRPr>
          </a:p>
          <a:p>
            <a:pPr indent="0" lvl="0" marL="457200" rtl="0" algn="l">
              <a:spcBef>
                <a:spcPts val="1200"/>
              </a:spcBef>
              <a:spcAft>
                <a:spcPts val="1200"/>
              </a:spcAft>
              <a:buNone/>
            </a:pPr>
            <a:r>
              <a:rPr lang="en" sz="1500">
                <a:latin typeface="Raleway"/>
                <a:ea typeface="Raleway"/>
                <a:cs typeface="Raleway"/>
                <a:sym typeface="Raleway"/>
              </a:rPr>
              <a:t>Config file for vocab, model path, language/voice settings.</a:t>
            </a:r>
            <a:br>
              <a:rPr lang="en" sz="1500">
                <a:latin typeface="Raleway"/>
                <a:ea typeface="Raleway"/>
                <a:cs typeface="Raleway"/>
                <a:sym typeface="Raleway"/>
              </a:rPr>
            </a:br>
            <a:endParaRPr sz="15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Non-functional Requirements</a:t>
            </a:r>
            <a:endParaRPr/>
          </a:p>
        </p:txBody>
      </p:sp>
      <p:sp>
        <p:nvSpPr>
          <p:cNvPr id="100" name="Google Shape;100;p17"/>
          <p:cNvSpPr txBox="1"/>
          <p:nvPr>
            <p:ph idx="2" type="body"/>
          </p:nvPr>
        </p:nvSpPr>
        <p:spPr>
          <a:xfrm>
            <a:off x="2400450" y="1343025"/>
            <a:ext cx="6321600" cy="326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aleway"/>
                <a:ea typeface="Raleway"/>
                <a:cs typeface="Raleway"/>
                <a:sym typeface="Raleway"/>
              </a:rPr>
              <a:t>Accuracy:</a:t>
            </a:r>
            <a:r>
              <a:rPr lang="en" sz="1500">
                <a:latin typeface="Raleway"/>
                <a:ea typeface="Raleway"/>
                <a:cs typeface="Raleway"/>
                <a:sym typeface="Raleway"/>
              </a:rPr>
              <a:t> </a:t>
            </a:r>
            <a:r>
              <a:rPr lang="en" sz="1500">
                <a:latin typeface="Raleway"/>
                <a:ea typeface="Raleway"/>
                <a:cs typeface="Raleway"/>
                <a:sym typeface="Raleway"/>
              </a:rPr>
              <a:t>F1 ≥ 0.85 on starter vocab test split.</a:t>
            </a:r>
            <a:endParaRPr sz="1500">
              <a:latin typeface="Raleway"/>
              <a:ea typeface="Raleway"/>
              <a:cs typeface="Raleway"/>
              <a:sym typeface="Raleway"/>
            </a:endParaRPr>
          </a:p>
          <a:p>
            <a:pPr indent="0" lvl="0" marL="0" rtl="0" algn="l">
              <a:spcBef>
                <a:spcPts val="1600"/>
              </a:spcBef>
              <a:spcAft>
                <a:spcPts val="0"/>
              </a:spcAft>
              <a:buClr>
                <a:schemeClr val="dk2"/>
              </a:buClr>
              <a:buSzPts val="1100"/>
              <a:buFont typeface="Arial"/>
              <a:buNone/>
            </a:pPr>
            <a:r>
              <a:rPr b="1" lang="en" sz="1500">
                <a:latin typeface="Raleway"/>
                <a:ea typeface="Raleway"/>
                <a:cs typeface="Raleway"/>
                <a:sym typeface="Raleway"/>
              </a:rPr>
              <a:t>Robustness:</a:t>
            </a:r>
            <a:r>
              <a:rPr lang="en" sz="1500">
                <a:latin typeface="Raleway"/>
                <a:ea typeface="Raleway"/>
                <a:cs typeface="Raleway"/>
                <a:sym typeface="Raleway"/>
              </a:rPr>
              <a:t> Works under different lighting; hand guidance overlay</a:t>
            </a:r>
            <a:endParaRPr sz="1500">
              <a:latin typeface="Raleway"/>
              <a:ea typeface="Raleway"/>
              <a:cs typeface="Raleway"/>
              <a:sym typeface="Raleway"/>
            </a:endParaRPr>
          </a:p>
          <a:p>
            <a:pPr indent="0" lvl="0" marL="0" rtl="0" algn="l">
              <a:spcBef>
                <a:spcPts val="1600"/>
              </a:spcBef>
              <a:spcAft>
                <a:spcPts val="0"/>
              </a:spcAft>
              <a:buClr>
                <a:schemeClr val="dk2"/>
              </a:buClr>
              <a:buSzPts val="1100"/>
              <a:buFont typeface="Arial"/>
              <a:buNone/>
            </a:pPr>
            <a:r>
              <a:rPr b="1" lang="en" sz="1500">
                <a:latin typeface="Raleway"/>
                <a:ea typeface="Raleway"/>
                <a:cs typeface="Raleway"/>
                <a:sym typeface="Raleway"/>
              </a:rPr>
              <a:t>Privacy:</a:t>
            </a:r>
            <a:r>
              <a:rPr lang="en" sz="1500">
                <a:latin typeface="Raleway"/>
                <a:ea typeface="Raleway"/>
                <a:cs typeface="Raleway"/>
                <a:sym typeface="Raleway"/>
              </a:rPr>
              <a:t> On-device processing, no video uploads.</a:t>
            </a:r>
            <a:endParaRPr sz="1500">
              <a:latin typeface="Raleway"/>
              <a:ea typeface="Raleway"/>
              <a:cs typeface="Raleway"/>
              <a:sym typeface="Raleway"/>
            </a:endParaRPr>
          </a:p>
          <a:p>
            <a:pPr indent="0" lvl="0" marL="0" rtl="0" algn="l">
              <a:spcBef>
                <a:spcPts val="1600"/>
              </a:spcBef>
              <a:spcAft>
                <a:spcPts val="0"/>
              </a:spcAft>
              <a:buClr>
                <a:schemeClr val="dk2"/>
              </a:buClr>
              <a:buSzPts val="1100"/>
              <a:buFont typeface="Arial"/>
              <a:buNone/>
            </a:pPr>
            <a:r>
              <a:rPr b="1" lang="en" sz="1500">
                <a:latin typeface="Raleway"/>
                <a:ea typeface="Raleway"/>
                <a:cs typeface="Raleway"/>
                <a:sym typeface="Raleway"/>
              </a:rPr>
              <a:t>Reliability:</a:t>
            </a:r>
            <a:r>
              <a:rPr lang="en" sz="1500">
                <a:latin typeface="Raleway"/>
                <a:ea typeface="Raleway"/>
                <a:cs typeface="Raleway"/>
                <a:sym typeface="Raleway"/>
              </a:rPr>
              <a:t> Fallback to text output if TTS/translation fails.</a:t>
            </a:r>
            <a:endParaRPr sz="1500">
              <a:latin typeface="Raleway"/>
              <a:ea typeface="Raleway"/>
              <a:cs typeface="Raleway"/>
              <a:sym typeface="Raleway"/>
            </a:endParaRPr>
          </a:p>
          <a:p>
            <a:pPr indent="0" lvl="0" marL="0" rtl="0" algn="l">
              <a:spcBef>
                <a:spcPts val="1600"/>
              </a:spcBef>
              <a:spcAft>
                <a:spcPts val="0"/>
              </a:spcAft>
              <a:buClr>
                <a:schemeClr val="dk2"/>
              </a:buClr>
              <a:buSzPts val="1100"/>
              <a:buFont typeface="Arial"/>
              <a:buNone/>
            </a:pPr>
            <a:r>
              <a:rPr b="1" lang="en" sz="1500">
                <a:latin typeface="Raleway"/>
                <a:ea typeface="Raleway"/>
                <a:cs typeface="Raleway"/>
                <a:sym typeface="Raleway"/>
              </a:rPr>
              <a:t>Usability:</a:t>
            </a:r>
            <a:r>
              <a:rPr lang="en" sz="1500">
                <a:latin typeface="Raleway"/>
                <a:ea typeface="Raleway"/>
                <a:cs typeface="Raleway"/>
                <a:sym typeface="Raleway"/>
              </a:rPr>
              <a:t> WCAG color contrast, captions for all status messages.</a:t>
            </a:r>
            <a:endParaRPr sz="1500">
              <a:latin typeface="Raleway"/>
              <a:ea typeface="Raleway"/>
              <a:cs typeface="Raleway"/>
              <a:sym typeface="Raleway"/>
            </a:endParaRPr>
          </a:p>
          <a:p>
            <a:pPr indent="0" lvl="0" marL="0" rtl="0" algn="l">
              <a:spcBef>
                <a:spcPts val="1600"/>
              </a:spcBef>
              <a:spcAft>
                <a:spcPts val="1600"/>
              </a:spcAft>
              <a:buNone/>
            </a:pPr>
            <a:r>
              <a:rPr b="1" lang="en" sz="1500">
                <a:latin typeface="Raleway"/>
                <a:ea typeface="Raleway"/>
                <a:cs typeface="Raleway"/>
                <a:sym typeface="Raleway"/>
              </a:rPr>
              <a:t>Portability:</a:t>
            </a:r>
            <a:r>
              <a:rPr lang="en" sz="1500">
                <a:latin typeface="Raleway"/>
                <a:ea typeface="Raleway"/>
                <a:cs typeface="Raleway"/>
                <a:sym typeface="Raleway"/>
              </a:rPr>
              <a:t> Runs on Windows/macOS via Python + virtual env.</a:t>
            </a:r>
            <a:endParaRPr sz="1500">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2417275" y="2119000"/>
            <a:ext cx="6321600" cy="6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Main Tasks Before Midterm Review</a:t>
            </a:r>
            <a:endParaRPr sz="2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descr="Background pointer shape in timeline graphic" id="110" name="Google Shape;110;p19"/>
          <p:cNvSpPr/>
          <p:nvPr/>
        </p:nvSpPr>
        <p:spPr>
          <a:xfrm>
            <a:off x="340934" y="2199000"/>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1" name="Google Shape;111;p19"/>
          <p:cNvSpPr txBox="1"/>
          <p:nvPr>
            <p:ph idx="4294967295" type="body"/>
          </p:nvPr>
        </p:nvSpPr>
        <p:spPr>
          <a:xfrm>
            <a:off x="340923" y="2336550"/>
            <a:ext cx="14556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Data &amp; Labels</a:t>
            </a:r>
            <a:endParaRPr b="1" sz="1600">
              <a:solidFill>
                <a:schemeClr val="lt1"/>
              </a:solidFill>
            </a:endParaRPr>
          </a:p>
        </p:txBody>
      </p:sp>
      <p:grpSp>
        <p:nvGrpSpPr>
          <p:cNvPr id="112" name="Google Shape;112;p19"/>
          <p:cNvGrpSpPr/>
          <p:nvPr/>
        </p:nvGrpSpPr>
        <p:grpSpPr>
          <a:xfrm>
            <a:off x="969270" y="1610215"/>
            <a:ext cx="198900" cy="593656"/>
            <a:chOff x="777447" y="1610215"/>
            <a:chExt cx="198900" cy="593656"/>
          </a:xfrm>
        </p:grpSpPr>
        <p:cxnSp>
          <p:nvCxnSpPr>
            <p:cNvPr id="113" name="Google Shape;113;p19"/>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14" name="Google Shape;114;p19"/>
            <p:cNvSpPr/>
            <p:nvPr/>
          </p:nvSpPr>
          <p:spPr>
            <a:xfrm>
              <a:off x="777447"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9"/>
          <p:cNvSpPr txBox="1"/>
          <p:nvPr>
            <p:ph idx="4294967295" type="body"/>
          </p:nvPr>
        </p:nvSpPr>
        <p:spPr>
          <a:xfrm>
            <a:off x="263650" y="398467"/>
            <a:ext cx="2947800" cy="1090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1100"/>
              <a:buFont typeface="Arial"/>
              <a:buNone/>
            </a:pPr>
            <a:r>
              <a:rPr lang="en" sz="1500"/>
              <a:t>Choose starter vocab (30–40 signs)</a:t>
            </a:r>
            <a:br>
              <a:rPr lang="en" sz="1500"/>
            </a:br>
            <a:r>
              <a:rPr lang="en" sz="1500"/>
              <a:t>Collect sample video clips</a:t>
            </a:r>
            <a:br>
              <a:rPr lang="en" sz="1500"/>
            </a:br>
            <a:r>
              <a:rPr lang="en" sz="1500"/>
              <a:t>Create train/val/test splits</a:t>
            </a:r>
            <a:endParaRPr sz="1500"/>
          </a:p>
          <a:p>
            <a:pPr indent="0" lvl="0" marL="0" rtl="0" algn="l">
              <a:lnSpc>
                <a:spcPct val="100000"/>
              </a:lnSpc>
              <a:spcBef>
                <a:spcPts val="1600"/>
              </a:spcBef>
              <a:spcAft>
                <a:spcPts val="1600"/>
              </a:spcAft>
              <a:buNone/>
            </a:pPr>
            <a:r>
              <a:t/>
            </a:r>
            <a:endParaRPr sz="1500"/>
          </a:p>
        </p:txBody>
      </p:sp>
      <p:sp>
        <p:nvSpPr>
          <p:cNvPr descr="Background pointer shape in timeline graphic" id="116" name="Google Shape;116;p19"/>
          <p:cNvSpPr/>
          <p:nvPr/>
        </p:nvSpPr>
        <p:spPr>
          <a:xfrm>
            <a:off x="1817054"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7" name="Google Shape;117;p19"/>
          <p:cNvSpPr txBox="1"/>
          <p:nvPr>
            <p:ph idx="4294967295" type="body"/>
          </p:nvPr>
        </p:nvSpPr>
        <p:spPr>
          <a:xfrm>
            <a:off x="2126317"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Baseline Model</a:t>
            </a:r>
            <a:endParaRPr b="1" sz="1600">
              <a:solidFill>
                <a:schemeClr val="lt1"/>
              </a:solidFill>
            </a:endParaRPr>
          </a:p>
        </p:txBody>
      </p:sp>
      <p:grpSp>
        <p:nvGrpSpPr>
          <p:cNvPr id="118" name="Google Shape;118;p19"/>
          <p:cNvGrpSpPr/>
          <p:nvPr/>
        </p:nvGrpSpPr>
        <p:grpSpPr>
          <a:xfrm>
            <a:off x="2684632" y="2938958"/>
            <a:ext cx="198900" cy="593656"/>
            <a:chOff x="2223534" y="2938958"/>
            <a:chExt cx="198900" cy="593656"/>
          </a:xfrm>
        </p:grpSpPr>
        <p:cxnSp>
          <p:nvCxnSpPr>
            <p:cNvPr id="119" name="Google Shape;119;p19"/>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20" name="Google Shape;120;p19"/>
            <p:cNvSpPr/>
            <p:nvPr/>
          </p:nvSpPr>
          <p:spPr>
            <a:xfrm flipH="1" rot="10800000">
              <a:off x="2223534"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 name="Google Shape;121;p19"/>
          <p:cNvSpPr txBox="1"/>
          <p:nvPr>
            <p:ph idx="4294967295" type="body"/>
          </p:nvPr>
        </p:nvSpPr>
        <p:spPr>
          <a:xfrm>
            <a:off x="1023625" y="3667497"/>
            <a:ext cx="3295800" cy="109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500"/>
              <a:t>Detection →YOLO , Landmarks → simple classifier (LogReg/MLP)</a:t>
            </a:r>
            <a:br>
              <a:rPr lang="en" sz="1500"/>
            </a:br>
            <a:r>
              <a:rPr lang="en" sz="1500"/>
              <a:t>Measure accuracy + confusion </a:t>
            </a:r>
            <a:r>
              <a:rPr lang="en" sz="1500"/>
              <a:t>matrix</a:t>
            </a:r>
            <a:endParaRPr sz="1500"/>
          </a:p>
        </p:txBody>
      </p:sp>
      <p:sp>
        <p:nvSpPr>
          <p:cNvPr descr="Background pointer shape in timeline graphic" id="122" name="Google Shape;122;p19"/>
          <p:cNvSpPr/>
          <p:nvPr/>
        </p:nvSpPr>
        <p:spPr>
          <a:xfrm>
            <a:off x="347197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3" name="Google Shape;123;p19"/>
          <p:cNvSpPr txBox="1"/>
          <p:nvPr>
            <p:ph idx="4294967295" type="body"/>
          </p:nvPr>
        </p:nvSpPr>
        <p:spPr>
          <a:xfrm>
            <a:off x="3767755"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Improved Model</a:t>
            </a:r>
            <a:endParaRPr b="1" sz="1600">
              <a:solidFill>
                <a:schemeClr val="lt1"/>
              </a:solidFill>
            </a:endParaRPr>
          </a:p>
        </p:txBody>
      </p:sp>
      <p:grpSp>
        <p:nvGrpSpPr>
          <p:cNvPr id="124" name="Google Shape;124;p19"/>
          <p:cNvGrpSpPr/>
          <p:nvPr/>
        </p:nvGrpSpPr>
        <p:grpSpPr>
          <a:xfrm>
            <a:off x="4319545" y="1610215"/>
            <a:ext cx="198900" cy="593656"/>
            <a:chOff x="3918084" y="1610215"/>
            <a:chExt cx="198900" cy="593656"/>
          </a:xfrm>
        </p:grpSpPr>
        <p:cxnSp>
          <p:nvCxnSpPr>
            <p:cNvPr id="125" name="Google Shape;125;p19"/>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26" name="Google Shape;126;p19"/>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19"/>
          <p:cNvSpPr txBox="1"/>
          <p:nvPr>
            <p:ph idx="4294967295" type="body"/>
          </p:nvPr>
        </p:nvSpPr>
        <p:spPr>
          <a:xfrm>
            <a:off x="3336575" y="371118"/>
            <a:ext cx="2886900" cy="10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500"/>
              <a:t>Test Bi-LSTM / 1D-CNN / Transformer</a:t>
            </a:r>
            <a:br>
              <a:rPr lang="en" sz="1500"/>
            </a:br>
            <a:r>
              <a:rPr lang="en" sz="1500"/>
              <a:t>Add temporal smoothing (majority vote)</a:t>
            </a:r>
            <a:endParaRPr sz="1500"/>
          </a:p>
          <a:p>
            <a:pPr indent="0" lvl="0" marL="0" rtl="0" algn="l">
              <a:spcBef>
                <a:spcPts val="1600"/>
              </a:spcBef>
              <a:spcAft>
                <a:spcPts val="1600"/>
              </a:spcAft>
              <a:buNone/>
            </a:pPr>
            <a:r>
              <a:t/>
            </a:r>
            <a:endParaRPr sz="1500"/>
          </a:p>
        </p:txBody>
      </p:sp>
      <p:sp>
        <p:nvSpPr>
          <p:cNvPr descr="Background pointer shape in timeline graphic" id="128" name="Google Shape;128;p19"/>
          <p:cNvSpPr/>
          <p:nvPr/>
        </p:nvSpPr>
        <p:spPr>
          <a:xfrm>
            <a:off x="512689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9" name="Google Shape;129;p19"/>
          <p:cNvSpPr txBox="1"/>
          <p:nvPr>
            <p:ph idx="4294967295" type="body"/>
          </p:nvPr>
        </p:nvSpPr>
        <p:spPr>
          <a:xfrm>
            <a:off x="5416699"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Integration</a:t>
            </a:r>
            <a:endParaRPr b="1" sz="1600">
              <a:solidFill>
                <a:schemeClr val="lt1"/>
              </a:solidFill>
            </a:endParaRPr>
          </a:p>
        </p:txBody>
      </p:sp>
      <p:grpSp>
        <p:nvGrpSpPr>
          <p:cNvPr id="130" name="Google Shape;130;p19"/>
          <p:cNvGrpSpPr/>
          <p:nvPr/>
        </p:nvGrpSpPr>
        <p:grpSpPr>
          <a:xfrm>
            <a:off x="5973070" y="2938958"/>
            <a:ext cx="198900" cy="593656"/>
            <a:chOff x="5958946" y="2938958"/>
            <a:chExt cx="198900" cy="593656"/>
          </a:xfrm>
        </p:grpSpPr>
        <p:cxnSp>
          <p:nvCxnSpPr>
            <p:cNvPr id="131" name="Google Shape;131;p19"/>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32" name="Google Shape;132;p19"/>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19"/>
          <p:cNvSpPr txBox="1"/>
          <p:nvPr>
            <p:ph idx="4294967295" type="body"/>
          </p:nvPr>
        </p:nvSpPr>
        <p:spPr>
          <a:xfrm>
            <a:off x="4994550" y="3748600"/>
            <a:ext cx="2765700" cy="12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500"/>
              <a:t>Connect model → text → TTS</a:t>
            </a:r>
            <a:br>
              <a:rPr lang="en" sz="1500"/>
            </a:br>
            <a:r>
              <a:rPr lang="en" sz="1500"/>
              <a:t>Add language dropdown (if translation included)</a:t>
            </a:r>
            <a:endParaRPr sz="1500"/>
          </a:p>
          <a:p>
            <a:pPr indent="0" lvl="0" marL="0" rtl="0" algn="l">
              <a:spcBef>
                <a:spcPts val="1600"/>
              </a:spcBef>
              <a:spcAft>
                <a:spcPts val="1600"/>
              </a:spcAft>
              <a:buNone/>
            </a:pPr>
            <a:r>
              <a:t/>
            </a:r>
            <a:endParaRPr sz="1500"/>
          </a:p>
        </p:txBody>
      </p:sp>
      <p:sp>
        <p:nvSpPr>
          <p:cNvPr descr="Background pointer shape in timeline graphic" id="134" name="Google Shape;134;p19"/>
          <p:cNvSpPr/>
          <p:nvPr/>
        </p:nvSpPr>
        <p:spPr>
          <a:xfrm>
            <a:off x="678181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5" name="Google Shape;135;p19"/>
          <p:cNvSpPr txBox="1"/>
          <p:nvPr>
            <p:ph idx="4294967295" type="body"/>
          </p:nvPr>
        </p:nvSpPr>
        <p:spPr>
          <a:xfrm>
            <a:off x="7111512"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UI &amp; Telemetry</a:t>
            </a:r>
            <a:endParaRPr b="1" sz="1600">
              <a:solidFill>
                <a:schemeClr val="lt1"/>
              </a:solidFill>
            </a:endParaRPr>
          </a:p>
        </p:txBody>
      </p:sp>
      <p:grpSp>
        <p:nvGrpSpPr>
          <p:cNvPr id="136" name="Google Shape;136;p19"/>
          <p:cNvGrpSpPr/>
          <p:nvPr/>
        </p:nvGrpSpPr>
        <p:grpSpPr>
          <a:xfrm>
            <a:off x="7669807" y="1610215"/>
            <a:ext cx="198900" cy="593656"/>
            <a:chOff x="3918084" y="1610215"/>
            <a:chExt cx="198900" cy="593656"/>
          </a:xfrm>
        </p:grpSpPr>
        <p:cxnSp>
          <p:nvCxnSpPr>
            <p:cNvPr id="137" name="Google Shape;137;p19"/>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38" name="Google Shape;138;p19"/>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9"/>
          <p:cNvSpPr txBox="1"/>
          <p:nvPr>
            <p:ph idx="4294967295" type="body"/>
          </p:nvPr>
        </p:nvSpPr>
        <p:spPr>
          <a:xfrm>
            <a:off x="6348600" y="207823"/>
            <a:ext cx="2680500" cy="140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500"/>
              <a:t>Build Gradio/Streamlit app (camera + text + Speak button)</a:t>
            </a:r>
            <a:br>
              <a:rPr lang="en" sz="1500"/>
            </a:br>
            <a:r>
              <a:rPr lang="en" sz="1500"/>
              <a:t>Log latency &amp; predictions (CSV)</a:t>
            </a:r>
            <a:endParaRPr sz="1500"/>
          </a:p>
          <a:p>
            <a:pPr indent="0" lvl="0" marL="0" rtl="0" algn="l">
              <a:spcBef>
                <a:spcPts val="1600"/>
              </a:spcBef>
              <a:spcAft>
                <a:spcPts val="16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